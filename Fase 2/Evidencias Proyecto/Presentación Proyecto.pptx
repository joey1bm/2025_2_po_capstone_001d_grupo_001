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erif Display" charset="1" panose="00000000000000000000"/>
      <p:regular r:id="rId20"/>
    </p:embeddedFont>
    <p:embeddedFont>
      <p:font typeface="Glacial Indifference" charset="1" panose="00000000000000000000"/>
      <p:regular r:id="rId21"/>
    </p:embeddedFont>
    <p:embeddedFont>
      <p:font typeface="Glacial Indifference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246780" cy="10287000"/>
            <a:chOff x="0" y="0"/>
            <a:chExt cx="37522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522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3752238">
                  <a:moveTo>
                    <a:pt x="0" y="0"/>
                  </a:moveTo>
                  <a:lnTo>
                    <a:pt x="3752238" y="0"/>
                  </a:lnTo>
                  <a:lnTo>
                    <a:pt x="37522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6AA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75223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028950"/>
            <a:ext cx="13218080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1"/>
              </a:lnSpc>
            </a:pPr>
            <a:r>
              <a:rPr lang="en-US" sz="7901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Plataforma de Gestión de Ingreso de Camiones PepsiCo</a:t>
            </a:r>
          </a:p>
          <a:p>
            <a:pPr algn="l">
              <a:lnSpc>
                <a:spcPts val="144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3294280" y="1028700"/>
            <a:ext cx="1905000" cy="19050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343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829664"/>
            <a:ext cx="6847006" cy="809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José Becerra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Javiera Gómez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756346"/>
            <a:ext cx="936872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36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Proyecto Final de Ingeniería en Informática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A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9853" y="0"/>
            <a:ext cx="10198147" cy="10287000"/>
            <a:chOff x="0" y="0"/>
            <a:chExt cx="268593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8593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85932">
                  <a:moveTo>
                    <a:pt x="0" y="0"/>
                  </a:moveTo>
                  <a:lnTo>
                    <a:pt x="2685932" y="0"/>
                  </a:lnTo>
                  <a:lnTo>
                    <a:pt x="268593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685932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2471" y="3686175"/>
            <a:ext cx="7135077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Introducción al Problema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06287" y="2598103"/>
            <a:ext cx="8765279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Proceso 100% manual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Planillas Excel desactualizadas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Comunica</a:t>
            </a: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ción por WhatsApp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Información descentralizada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Pé</a:t>
            </a: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rdida de trazabilidad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A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69238" y="0"/>
            <a:ext cx="10218762" cy="10287000"/>
            <a:chOff x="0" y="0"/>
            <a:chExt cx="269136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9136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91361">
                  <a:moveTo>
                    <a:pt x="0" y="0"/>
                  </a:moveTo>
                  <a:lnTo>
                    <a:pt x="2691361" y="0"/>
                  </a:lnTo>
                  <a:lnTo>
                    <a:pt x="269136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691361" cy="272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4164" y="3686175"/>
            <a:ext cx="7805073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¿Por Qué Este Proyecto?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94021" y="2036128"/>
            <a:ext cx="8765279" cy="559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Digitalización del proceso manual actual (planillas Excel + WhatsApp)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Optimiza</a:t>
            </a: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ción de la gestión de ingreso de camiones al taller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Mejora en trazabilidad y control de información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educción de tiempos de espera y errores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144254"/>
            <a:chOff x="0" y="0"/>
            <a:chExt cx="4816593" cy="8281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28116"/>
            </a:xfrm>
            <a:custGeom>
              <a:avLst/>
              <a:gdLst/>
              <a:ahLst/>
              <a:cxnLst/>
              <a:rect r="r" b="b" t="t" l="l"/>
              <a:pathLst>
                <a:path h="8281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28116"/>
                  </a:lnTo>
                  <a:lnTo>
                    <a:pt x="0" y="828116"/>
                  </a:lnTo>
                  <a:close/>
                </a:path>
              </a:pathLst>
            </a:custGeom>
            <a:solidFill>
              <a:srgbClr val="A6AA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866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76637" y="4143937"/>
            <a:ext cx="6213332" cy="1216023"/>
            <a:chOff x="0" y="0"/>
            <a:chExt cx="8284443" cy="162136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90525"/>
              <a:ext cx="889008" cy="2011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600"/>
                </a:lnSpc>
              </a:pPr>
              <a:r>
                <a:rPr lang="en-US" sz="80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410332" y="433069"/>
              <a:ext cx="687411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Plataforma web responsiva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88824" y="5967972"/>
            <a:ext cx="6213332" cy="1216023"/>
            <a:chOff x="0" y="0"/>
            <a:chExt cx="8284443" cy="16213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90525"/>
              <a:ext cx="889008" cy="2011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600"/>
                </a:lnSpc>
              </a:pPr>
              <a:r>
                <a:rPr lang="en-US" sz="80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2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410332" y="58419"/>
              <a:ext cx="6874111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Nueve perfiles de usuario diferenciados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76637" y="7793595"/>
            <a:ext cx="6213332" cy="1216023"/>
            <a:chOff x="0" y="0"/>
            <a:chExt cx="8284443" cy="162136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90525"/>
              <a:ext cx="889008" cy="2011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600"/>
                </a:lnSpc>
              </a:pPr>
              <a:r>
                <a:rPr lang="en-US" sz="80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3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410332" y="58419"/>
              <a:ext cx="6874111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Gestión programada de ingresos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98031" y="4143937"/>
            <a:ext cx="6213332" cy="1216023"/>
            <a:chOff x="0" y="0"/>
            <a:chExt cx="8284443" cy="162136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390525"/>
              <a:ext cx="889008" cy="2011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600"/>
                </a:lnSpc>
              </a:pPr>
              <a:r>
                <a:rPr lang="en-US" sz="80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4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410332" y="58419"/>
              <a:ext cx="6874111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Control de estados en tiempo real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31930" y="857250"/>
            <a:ext cx="14824140" cy="142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20"/>
              </a:lnSpc>
            </a:pPr>
            <a:r>
              <a:rPr lang="en-US" sz="83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¿Qué Incluye Nuestra Solución?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91937" y="5967972"/>
            <a:ext cx="5873180" cy="1216023"/>
            <a:chOff x="0" y="0"/>
            <a:chExt cx="7830907" cy="1621365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390525"/>
              <a:ext cx="840339" cy="2011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600"/>
                </a:lnSpc>
              </a:pPr>
              <a:r>
                <a:rPr lang="en-US" sz="80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5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333123" y="58419"/>
              <a:ext cx="6497784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Documentación centralizada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91937" y="7793595"/>
            <a:ext cx="6213332" cy="1216023"/>
            <a:chOff x="0" y="0"/>
            <a:chExt cx="8284443" cy="1621365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390525"/>
              <a:ext cx="889008" cy="2011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3600"/>
                </a:lnSpc>
              </a:pPr>
              <a:r>
                <a:rPr lang="en-US" sz="80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6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410332" y="433069"/>
              <a:ext cx="687411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Sistema de notificaciones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A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335588"/>
            <a:ext cx="4905185" cy="6951412"/>
            <a:chOff x="0" y="0"/>
            <a:chExt cx="1291901" cy="18308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1901" cy="1830824"/>
            </a:xfrm>
            <a:custGeom>
              <a:avLst/>
              <a:gdLst/>
              <a:ahLst/>
              <a:cxnLst/>
              <a:rect r="r" b="b" t="t" l="l"/>
              <a:pathLst>
                <a:path h="1830824" w="1291901">
                  <a:moveTo>
                    <a:pt x="0" y="0"/>
                  </a:moveTo>
                  <a:lnTo>
                    <a:pt x="1291901" y="0"/>
                  </a:lnTo>
                  <a:lnTo>
                    <a:pt x="1291901" y="1830824"/>
                  </a:lnTo>
                  <a:lnTo>
                    <a:pt x="0" y="1830824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291901" cy="1849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54115" y="3335588"/>
            <a:ext cx="4905185" cy="6951412"/>
            <a:chOff x="0" y="0"/>
            <a:chExt cx="1291901" cy="1830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1901" cy="1830824"/>
            </a:xfrm>
            <a:custGeom>
              <a:avLst/>
              <a:gdLst/>
              <a:ahLst/>
              <a:cxnLst/>
              <a:rect r="r" b="b" t="t" l="l"/>
              <a:pathLst>
                <a:path h="1830824" w="1291901">
                  <a:moveTo>
                    <a:pt x="0" y="0"/>
                  </a:moveTo>
                  <a:lnTo>
                    <a:pt x="1291901" y="0"/>
                  </a:lnTo>
                  <a:lnTo>
                    <a:pt x="1291901" y="1830824"/>
                  </a:lnTo>
                  <a:lnTo>
                    <a:pt x="0" y="1830824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91901" cy="1849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91407" y="3335588"/>
            <a:ext cx="4905185" cy="6951412"/>
            <a:chOff x="0" y="0"/>
            <a:chExt cx="1291901" cy="18308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1901" cy="1830824"/>
            </a:xfrm>
            <a:custGeom>
              <a:avLst/>
              <a:gdLst/>
              <a:ahLst/>
              <a:cxnLst/>
              <a:rect r="r" b="b" t="t" l="l"/>
              <a:pathLst>
                <a:path h="1830824" w="1291901">
                  <a:moveTo>
                    <a:pt x="0" y="0"/>
                  </a:moveTo>
                  <a:lnTo>
                    <a:pt x="1291901" y="0"/>
                  </a:lnTo>
                  <a:lnTo>
                    <a:pt x="1291901" y="1830824"/>
                  </a:lnTo>
                  <a:lnTo>
                    <a:pt x="0" y="1830824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291901" cy="1849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0887" y="847725"/>
            <a:ext cx="16218413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Metodología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4688" y="3346452"/>
            <a:ext cx="3713209" cy="160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00"/>
              </a:lnSpc>
            </a:pPr>
            <a:r>
              <a:rPr lang="en-US" sz="80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93489" y="3346452"/>
            <a:ext cx="3713209" cy="160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00"/>
              </a:lnSpc>
            </a:pPr>
            <a:r>
              <a:rPr lang="en-US" sz="80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58668" y="3346452"/>
            <a:ext cx="3713209" cy="160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600"/>
              </a:lnSpc>
              <a:spcBef>
                <a:spcPct val="0"/>
              </a:spcBef>
            </a:pPr>
            <a:r>
              <a:rPr lang="en-US" sz="8000" u="none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24688" y="5143500"/>
            <a:ext cx="3713209" cy="2019300"/>
            <a:chOff x="0" y="0"/>
            <a:chExt cx="4950945" cy="26924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590802"/>
              <a:ext cx="4950945" cy="1101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Modelo Tradicional en Cascada.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57150"/>
              <a:ext cx="495094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Metodología Seleccionada: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93489" y="5424488"/>
            <a:ext cx="3713209" cy="3133725"/>
            <a:chOff x="0" y="0"/>
            <a:chExt cx="4950945" cy="417830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841502"/>
              <a:ext cx="4950945" cy="33367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"Ideal para proyectos con requisitos estables y claros desde el inicio, permitiendo una planificación detallada y documentación robusta en cada fase."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57150"/>
              <a:ext cx="495094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Justificación: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958668" y="5424488"/>
            <a:ext cx="3713209" cy="3133725"/>
            <a:chOff x="0" y="0"/>
            <a:chExt cx="4950945" cy="417830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841502"/>
              <a:ext cx="4950945" cy="33367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1"/>
                </a:lnSpc>
              </a:pPr>
              <a:r>
                <a:rPr lang="en-US" sz="2400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Hemos ejecutado secuencial y completamente todas las fases, generando toda la documentación especificada.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57150"/>
              <a:ext cx="495094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Seguimiento: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4655394" y="468890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2858" y="3332283"/>
            <a:ext cx="3106383" cy="1269644"/>
            <a:chOff x="0" y="0"/>
            <a:chExt cx="812800" cy="332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32209"/>
            </a:xfrm>
            <a:custGeom>
              <a:avLst/>
              <a:gdLst/>
              <a:ahLst/>
              <a:cxnLst/>
              <a:rect r="r" b="b" t="t" l="l"/>
              <a:pathLst>
                <a:path h="33220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32209"/>
                  </a:lnTo>
                  <a:lnTo>
                    <a:pt x="0" y="332209"/>
                  </a:lnTo>
                  <a:close/>
                </a:path>
              </a:pathLst>
            </a:custGeom>
            <a:solidFill>
              <a:srgbClr val="3634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812800" cy="389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3F3F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Fase de Requisitos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29294" y="3332283"/>
            <a:ext cx="3106383" cy="1269644"/>
            <a:chOff x="0" y="0"/>
            <a:chExt cx="812800" cy="3322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332209"/>
            </a:xfrm>
            <a:custGeom>
              <a:avLst/>
              <a:gdLst/>
              <a:ahLst/>
              <a:cxnLst/>
              <a:rect r="r" b="b" t="t" l="l"/>
              <a:pathLst>
                <a:path h="33220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32209"/>
                  </a:lnTo>
                  <a:lnTo>
                    <a:pt x="0" y="332209"/>
                  </a:lnTo>
                  <a:close/>
                </a:path>
              </a:pathLst>
            </a:custGeom>
            <a:solidFill>
              <a:srgbClr val="A6AA9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389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Fase de Diseño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92142" y="3332283"/>
            <a:ext cx="3106383" cy="1269644"/>
            <a:chOff x="0" y="0"/>
            <a:chExt cx="812800" cy="3322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32209"/>
            </a:xfrm>
            <a:custGeom>
              <a:avLst/>
              <a:gdLst/>
              <a:ahLst/>
              <a:cxnLst/>
              <a:rect r="r" b="b" t="t" l="l"/>
              <a:pathLst>
                <a:path h="33220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32209"/>
                  </a:lnTo>
                  <a:lnTo>
                    <a:pt x="0" y="332209"/>
                  </a:lnTo>
                  <a:close/>
                </a:path>
              </a:pathLst>
            </a:custGeom>
            <a:solidFill>
              <a:srgbClr val="3634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12800" cy="389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3F3F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Fase de Construccion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50926" y="3332283"/>
            <a:ext cx="3106383" cy="1269644"/>
            <a:chOff x="0" y="0"/>
            <a:chExt cx="812800" cy="3322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332209"/>
            </a:xfrm>
            <a:custGeom>
              <a:avLst/>
              <a:gdLst/>
              <a:ahLst/>
              <a:cxnLst/>
              <a:rect r="r" b="b" t="t" l="l"/>
              <a:pathLst>
                <a:path h="33220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32209"/>
                  </a:lnTo>
                  <a:lnTo>
                    <a:pt x="0" y="332209"/>
                  </a:lnTo>
                  <a:close/>
                </a:path>
              </a:pathLst>
            </a:custGeom>
            <a:solidFill>
              <a:srgbClr val="A6AA9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812800" cy="389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Fase de 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pruebas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128759" y="3332283"/>
            <a:ext cx="3106383" cy="1269644"/>
            <a:chOff x="0" y="0"/>
            <a:chExt cx="812800" cy="3322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332209"/>
            </a:xfrm>
            <a:custGeom>
              <a:avLst/>
              <a:gdLst/>
              <a:ahLst/>
              <a:cxnLst/>
              <a:rect r="r" b="b" t="t" l="l"/>
              <a:pathLst>
                <a:path h="33220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32209"/>
                  </a:lnTo>
                  <a:lnTo>
                    <a:pt x="0" y="332209"/>
                  </a:lnTo>
                  <a:close/>
                </a:path>
              </a:pathLst>
            </a:custGeom>
            <a:solidFill>
              <a:srgbClr val="36343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389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F3F3F3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Fase de Despliegue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52858" y="4831152"/>
            <a:ext cx="3106383" cy="4073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Reunión inicial con el cliente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Especificación </a:t>
            </a: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requerimientos de stakeholders, software y sistema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Documentación </a:t>
            </a: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requisitos funcionales y no funcionales 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Resultado: Definición clara del alcance y expectativas del proyecto</a:t>
            </a:r>
          </a:p>
          <a:p>
            <a:pPr algn="l">
              <a:lnSpc>
                <a:spcPts val="2483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578553" y="4831152"/>
            <a:ext cx="3106383" cy="281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Desarrollo de BackEnd (Modulo 1 y 2)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Desarrollo de FrontEnd (Pantallas principales y secundarias)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Resultado: Código fuente funcional de la plataforma web</a:t>
            </a:r>
          </a:p>
          <a:p>
            <a:pPr algn="l">
              <a:lnSpc>
                <a:spcPts val="2483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4128759" y="4831152"/>
            <a:ext cx="3106383" cy="344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Elaboración de manuales de usuario y administrador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Documentación </a:t>
            </a: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técnica final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Recopilación </a:t>
            </a: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 evidencias del proceso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Entrega del Informe Final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 esperado: Plataforma lista para implementación operativa</a:t>
            </a:r>
          </a:p>
          <a:p>
            <a:pPr algn="l">
              <a:lnSpc>
                <a:spcPts val="248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4329294" y="4831152"/>
            <a:ext cx="3106383" cy="470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Acta de Constitución del Proyecto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EDT, Matriz RACI y Carta Gantt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Matriz de Riesgos y Plan de Calidad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Especificación técnica </a:t>
            </a: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completa (ERS)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Diagramas: Casos de Uso, Clases, Arquitectura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Mockups de interfaz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Resultado: Diseño completo y documentado listo para construcción</a:t>
            </a:r>
          </a:p>
          <a:p>
            <a:pPr algn="l">
              <a:lnSpc>
                <a:spcPts val="2483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856386" y="4831152"/>
            <a:ext cx="3106383" cy="2816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Plan de Pruebas Inicial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 unitarias, integración y usabilidad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 de seguridad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Informe de resultados</a:t>
            </a:r>
          </a:p>
          <a:p>
            <a:pPr algn="l" marL="388620" indent="-194310" lvl="1">
              <a:lnSpc>
                <a:spcPts val="2483"/>
              </a:lnSpc>
              <a:buFont typeface="Arial"/>
              <a:buChar char="•"/>
            </a:pPr>
            <a:r>
              <a:rPr lang="en-US" sz="18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Resultado: Sistema validado y garantizada su calidad</a:t>
            </a:r>
          </a:p>
          <a:p>
            <a:pPr algn="l">
              <a:lnSpc>
                <a:spcPts val="2483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559111"/>
            <a:ext cx="16314066" cy="1650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19"/>
              </a:lnSpc>
            </a:pPr>
            <a:r>
              <a:rPr lang="en-US" sz="9656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Cronograma del Proyecto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16152" y="2851741"/>
            <a:ext cx="1332669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6"/>
              </a:lnSpc>
              <a:spcBef>
                <a:spcPct val="0"/>
              </a:spcBef>
            </a:pPr>
            <a:r>
              <a:rPr lang="en-US" sz="1962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FINALIZADA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39715" y="2851741"/>
            <a:ext cx="1332669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6"/>
              </a:lnSpc>
              <a:spcBef>
                <a:spcPct val="0"/>
              </a:spcBef>
            </a:pPr>
            <a:r>
              <a:rPr lang="en-US" sz="1962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FINALIZADA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65410" y="2851741"/>
            <a:ext cx="1332669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6"/>
              </a:lnSpc>
              <a:spcBef>
                <a:spcPct val="0"/>
              </a:spcBef>
            </a:pPr>
            <a:r>
              <a:rPr lang="en-US" sz="1962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FINALIZADA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00760" y="2851741"/>
            <a:ext cx="1406714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6"/>
              </a:lnSpc>
              <a:spcBef>
                <a:spcPct val="0"/>
              </a:spcBef>
            </a:pPr>
            <a:r>
              <a:rPr lang="en-US" sz="1962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EN PROCESO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997287" y="2851741"/>
            <a:ext cx="1369327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6"/>
              </a:lnSpc>
              <a:spcBef>
                <a:spcPct val="0"/>
              </a:spcBef>
            </a:pPr>
            <a:r>
              <a:rPr lang="en-US" sz="1962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POR INICIAR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A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04336"/>
            <a:ext cx="18288000" cy="8073604"/>
            <a:chOff x="0" y="0"/>
            <a:chExt cx="4816593" cy="21263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26381"/>
            </a:xfrm>
            <a:custGeom>
              <a:avLst/>
              <a:gdLst/>
              <a:ahLst/>
              <a:cxnLst/>
              <a:rect r="r" b="b" t="t" l="l"/>
              <a:pathLst>
                <a:path h="212638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26381"/>
                  </a:lnTo>
                  <a:lnTo>
                    <a:pt x="0" y="2126381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164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12371" y="719834"/>
            <a:ext cx="10863257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sz="84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Fase actual: Pruebas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20736" y="3582824"/>
            <a:ext cx="2715079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</a:pPr>
            <a:r>
              <a:rPr lang="en-US" sz="36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 de Integración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0914" y="2641944"/>
            <a:ext cx="2715079" cy="269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2608"/>
              </a:lnSpc>
              <a:spcBef>
                <a:spcPct val="0"/>
              </a:spcBef>
            </a:pPr>
            <a:r>
              <a:rPr lang="en-US" sz="14400" u="none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91744" y="3582824"/>
            <a:ext cx="2715079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</a:pPr>
            <a:r>
              <a:rPr lang="en-US" sz="36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 de Carga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34204" y="2641944"/>
            <a:ext cx="2715079" cy="269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2608"/>
              </a:lnSpc>
              <a:spcBef>
                <a:spcPct val="0"/>
              </a:spcBef>
            </a:pPr>
            <a:r>
              <a:rPr lang="en-US" sz="14400" u="none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91744" y="7295488"/>
            <a:ext cx="2715079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</a:pPr>
            <a:r>
              <a:rPr lang="en-US" sz="36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 de Seguridad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34204" y="6238650"/>
            <a:ext cx="2715079" cy="269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2608"/>
              </a:lnSpc>
              <a:spcBef>
                <a:spcPct val="0"/>
              </a:spcBef>
            </a:pPr>
            <a:r>
              <a:rPr lang="en-US" sz="14400" u="none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8717" y="7179529"/>
            <a:ext cx="2715079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</a:pPr>
            <a:r>
              <a:rPr lang="en-US" sz="36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Pruebas de Usabilidad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81177" y="6238650"/>
            <a:ext cx="2715079" cy="2695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2608"/>
              </a:lnSpc>
              <a:spcBef>
                <a:spcPct val="0"/>
              </a:spcBef>
            </a:pPr>
            <a:r>
              <a:rPr lang="en-US" sz="14400" u="none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A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775153" cy="10287000"/>
            <a:chOff x="0" y="0"/>
            <a:chExt cx="1161218" cy="9350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1218" cy="935053"/>
            </a:xfrm>
            <a:custGeom>
              <a:avLst/>
              <a:gdLst/>
              <a:ahLst/>
              <a:cxnLst/>
              <a:rect r="r" b="b" t="t" l="l"/>
              <a:pathLst>
                <a:path h="935053" w="1161218">
                  <a:moveTo>
                    <a:pt x="0" y="0"/>
                  </a:moveTo>
                  <a:lnTo>
                    <a:pt x="1161218" y="0"/>
                  </a:lnTo>
                  <a:lnTo>
                    <a:pt x="1161218" y="935053"/>
                  </a:lnTo>
                  <a:lnTo>
                    <a:pt x="0" y="935053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61218" cy="944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037061"/>
            <a:ext cx="10362962" cy="53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Objetivo: Validar interacción correcta entre módulos.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Casos probados: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Login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Dashboard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</a:t>
            </a: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ear Orden de Trabajo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Navegación entre módulos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Cerrar sesión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Resultado: Aprobado – Sin errores de transición.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6300"/>
            <a:ext cx="11888492" cy="14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0"/>
              </a:lnSpc>
            </a:pPr>
            <a:r>
              <a:rPr lang="en-US" sz="87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Pruebas integración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A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768551" cy="10287000"/>
            <a:chOff x="0" y="0"/>
            <a:chExt cx="1160618" cy="9350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0618" cy="935053"/>
            </a:xfrm>
            <a:custGeom>
              <a:avLst/>
              <a:gdLst/>
              <a:ahLst/>
              <a:cxnLst/>
              <a:rect r="r" b="b" t="t" l="l"/>
              <a:pathLst>
                <a:path h="935053" w="1160618">
                  <a:moveTo>
                    <a:pt x="0" y="0"/>
                  </a:moveTo>
                  <a:lnTo>
                    <a:pt x="1160618" y="0"/>
                  </a:lnTo>
                  <a:lnTo>
                    <a:pt x="1160618" y="935053"/>
                  </a:lnTo>
                  <a:lnTo>
                    <a:pt x="0" y="935053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60618" cy="944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527590"/>
            <a:ext cx="9468424" cy="7184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Objetivo: Verificar cumplimiento de requerimientos.</a:t>
            </a:r>
          </a:p>
          <a:p>
            <a:pPr algn="l">
              <a:lnSpc>
                <a:spcPts val="4067"/>
              </a:lnSpc>
            </a:pP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Casos evaluados:</a:t>
            </a: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Validación de campos</a:t>
            </a: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Ag</a:t>
            </a: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endamiento</a:t>
            </a: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Registro de vehículo</a:t>
            </a: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Registro de OT</a:t>
            </a: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Repuestos / Proveedores</a:t>
            </a: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Reportes / Estadísticas</a:t>
            </a: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Gestión de usuarios</a:t>
            </a: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</a:t>
            </a: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entos</a:t>
            </a:r>
          </a:p>
          <a:p>
            <a:pPr algn="l">
              <a:lnSpc>
                <a:spcPts val="4067"/>
              </a:lnSpc>
            </a:pP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Resultado: ✔ Aprobado</a:t>
            </a:r>
          </a:p>
          <a:p>
            <a:pPr algn="l" marL="627338" indent="-313669" lvl="1">
              <a:lnSpc>
                <a:spcPts val="4067"/>
              </a:lnSpc>
              <a:buFont typeface="Arial"/>
              <a:buChar char="•"/>
            </a:pPr>
            <a:r>
              <a:rPr lang="en-US" sz="2905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Observación: Reportes varían según carga del servidor.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6300"/>
            <a:ext cx="11888492" cy="14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0"/>
              </a:lnSpc>
            </a:pPr>
            <a:r>
              <a:rPr lang="en-US" sz="87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Pruebas usabilidad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A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789166" cy="10287000"/>
            <a:chOff x="0" y="0"/>
            <a:chExt cx="1162492" cy="9350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2492" cy="935053"/>
            </a:xfrm>
            <a:custGeom>
              <a:avLst/>
              <a:gdLst/>
              <a:ahLst/>
              <a:cxnLst/>
              <a:rect r="r" b="b" t="t" l="l"/>
              <a:pathLst>
                <a:path h="935053" w="1162492">
                  <a:moveTo>
                    <a:pt x="0" y="0"/>
                  </a:moveTo>
                  <a:lnTo>
                    <a:pt x="1162492" y="0"/>
                  </a:lnTo>
                  <a:lnTo>
                    <a:pt x="1162492" y="935053"/>
                  </a:lnTo>
                  <a:lnTo>
                    <a:pt x="0" y="935053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62492" cy="944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663470"/>
            <a:ext cx="11300957" cy="692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Objetivo: Evaluar desempeño con usuarios simultáneos.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Escenarios: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50 usuarios → Rápido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150 usuarios → Estable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300 usuarios → Más lento, sin caídas</a:t>
            </a:r>
          </a:p>
          <a:p>
            <a:pPr algn="l">
              <a:lnSpc>
                <a:spcPts val="4200"/>
              </a:lnSpc>
            </a:pP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Métricas principales: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Promedio: 820 ms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Máximo: 2.4 s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Error rate: 1.3%</a:t>
            </a:r>
          </a:p>
          <a:p>
            <a:pPr algn="l" marL="1295403" indent="-431801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Disponibilidad: 98.7%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Resultado: ✔ Aprobado – Rendimiento adecuado.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6300"/>
            <a:ext cx="11888492" cy="14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80"/>
              </a:lnSpc>
            </a:pPr>
            <a:r>
              <a:rPr lang="en-US" sz="87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Pruebas carga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A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778859" cy="10287000"/>
            <a:chOff x="0" y="0"/>
            <a:chExt cx="1161555" cy="9350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1555" cy="935053"/>
            </a:xfrm>
            <a:custGeom>
              <a:avLst/>
              <a:gdLst/>
              <a:ahLst/>
              <a:cxnLst/>
              <a:rect r="r" b="b" t="t" l="l"/>
              <a:pathLst>
                <a:path h="935053" w="1161555">
                  <a:moveTo>
                    <a:pt x="0" y="0"/>
                  </a:moveTo>
                  <a:lnTo>
                    <a:pt x="1161555" y="0"/>
                  </a:lnTo>
                  <a:lnTo>
                    <a:pt x="1161555" y="935053"/>
                  </a:lnTo>
                  <a:lnTo>
                    <a:pt x="0" y="935053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61555" cy="944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538730"/>
            <a:ext cx="10734037" cy="671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Objetivo: Detectar configuraciones débiles y vulnerabilidades.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Resultados</a:t>
            </a: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Depend</a:t>
            </a: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encias sin vulnerabilidades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Llave de 20 caracteres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Debug activo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PostgreSQL desplegado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Permisos de archivos seguros</a:t>
            </a:r>
          </a:p>
          <a:p>
            <a:pPr algn="l" marL="1381761" indent="-460587" lvl="2">
              <a:lnSpc>
                <a:spcPts val="4480"/>
              </a:lnSpc>
              <a:buFont typeface="Arial"/>
              <a:buChar char="⚬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Safety: 0 vulnerabilidades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  <a:r>
              <a:rPr lang="en-US" sz="32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esultado:  Seguridad MEDIA (requiere fortalecimiento)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7957" y="876300"/>
            <a:ext cx="9524475" cy="14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Pruebas seguridad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1466" y="2361565"/>
            <a:ext cx="8121010" cy="269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700" b="true">
                <a:solidFill>
                  <a:srgbClr val="36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Cookies Inseguras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Riesgo: Robo de sesión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Solución: Cookies configuradas como HTTPONLY y SECURE</a:t>
            </a:r>
          </a:p>
          <a:p>
            <a:pPr algn="l">
              <a:lnSpc>
                <a:spcPts val="432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6094" y="0"/>
            <a:ext cx="18288000" cy="2072260"/>
            <a:chOff x="0" y="0"/>
            <a:chExt cx="4816593" cy="5457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45780"/>
            </a:xfrm>
            <a:custGeom>
              <a:avLst/>
              <a:gdLst/>
              <a:ahLst/>
              <a:cxnLst/>
              <a:rect r="r" b="b" t="t" l="l"/>
              <a:pathLst>
                <a:path h="54578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45780"/>
                  </a:lnTo>
                  <a:lnTo>
                    <a:pt x="0" y="545780"/>
                  </a:lnTo>
                  <a:close/>
                </a:path>
              </a:pathLst>
            </a:custGeom>
            <a:solidFill>
              <a:srgbClr val="A6AA9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583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0887" y="266193"/>
            <a:ext cx="16218413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Informe de hallazgos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1466" y="5029200"/>
            <a:ext cx="11574068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700" b="true">
                <a:solidFill>
                  <a:srgbClr val="36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Módulo de Adjuntos No Funcional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</a:t>
            </a: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ema: Errores en carga de archivos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Impacto: Medio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Solución: Corrección en backend y frontend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094" y="2361565"/>
            <a:ext cx="8791006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700" b="true">
                <a:solidFill>
                  <a:srgbClr val="36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Lista de Estados Incompleta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</a:t>
            </a: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ema: Estados incorrectos y obsoletos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Impacto: Medio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Solución: Actualización del catálogo de estados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77203" y="7797522"/>
            <a:ext cx="7945780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700" b="true">
                <a:solidFill>
                  <a:srgbClr val="36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Repuestos Utilizados No Operativo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</a:t>
            </a: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ema: Funciones CRUD inoperativas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Impacto: Medio-Alto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Solución: Restauración de CRUD y JavaScript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50094" y="5029200"/>
            <a:ext cx="8994535" cy="214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700" b="true">
                <a:solidFill>
                  <a:srgbClr val="3634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Calendario en Inglés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</a:t>
            </a: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ema: Días en idioma inglés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Impacto: Bajo</a:t>
            </a:r>
          </a:p>
          <a:p>
            <a:pPr algn="l" marL="582930" indent="-291465" lvl="1">
              <a:lnSpc>
                <a:spcPts val="4320"/>
              </a:lnSpc>
              <a:buFont typeface="Arial"/>
              <a:buChar char="•"/>
            </a:pPr>
            <a:r>
              <a:rPr lang="en-US" sz="2700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Solución: Configuración de localización a español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768318"/>
            <a:ext cx="11129582" cy="6149279"/>
            <a:chOff x="0" y="0"/>
            <a:chExt cx="14839443" cy="819903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4839443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</a:pPr>
              <a:r>
                <a:rPr lang="en-US" sz="3799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Fase</a:t>
              </a:r>
              <a:r>
                <a:rPr lang="en-US" sz="3799" u="none">
                  <a:solidFill>
                    <a:srgbClr val="363434"/>
                  </a:solidFill>
                  <a:latin typeface="DM Serif Display"/>
                  <a:ea typeface="DM Serif Display"/>
                  <a:cs typeface="DM Serif Display"/>
                  <a:sym typeface="DM Serif Display"/>
                </a:rPr>
                <a:t> de Despliegue (18 al 21 de noviembre)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962790"/>
              <a:ext cx="1483944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5.1 Elaboración de Manuales de Usuario</a:t>
              </a: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Responsable: Javiera Gómez</a:t>
              </a: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Duración: 2 días</a:t>
              </a: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Objetivo: Crear guías claras para usuarios finales y administradores.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5.2 Entrega del Informe Final</a:t>
              </a: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Responsable: Javiera Gómez</a:t>
              </a: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Duración: 2 días</a:t>
              </a:r>
            </a:p>
            <a:p>
              <a:pPr algn="l" marL="604516" indent="-302258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6343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Resultado: Informe consolidado del proyecto y cierre formal.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3144254"/>
            <a:chOff x="0" y="0"/>
            <a:chExt cx="4816593" cy="8281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28116"/>
            </a:xfrm>
            <a:custGeom>
              <a:avLst/>
              <a:gdLst/>
              <a:ahLst/>
              <a:cxnLst/>
              <a:rect r="r" b="b" t="t" l="l"/>
              <a:pathLst>
                <a:path h="82811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28116"/>
                  </a:lnTo>
                  <a:lnTo>
                    <a:pt x="0" y="828116"/>
                  </a:lnTo>
                  <a:close/>
                </a:path>
              </a:pathLst>
            </a:custGeom>
            <a:solidFill>
              <a:srgbClr val="A6AA9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866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40887" y="847725"/>
            <a:ext cx="16218413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Próximos</a:t>
            </a:r>
            <a:r>
              <a:rPr lang="en-US" sz="96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96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pasos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AA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143500"/>
            <a:ext cx="18288000" cy="5143500"/>
            <a:chOff x="0" y="0"/>
            <a:chExt cx="4816593" cy="1354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354667"/>
            </a:xfrm>
            <a:custGeom>
              <a:avLst/>
              <a:gdLst/>
              <a:ahLst/>
              <a:cxnLst/>
              <a:rect r="r" b="b" t="t" l="l"/>
              <a:pathLst>
                <a:path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553499"/>
            <a:ext cx="1623060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363434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Muchas Gracias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4191000"/>
            <a:ext cx="18288000" cy="1905000"/>
            <a:chOff x="0" y="0"/>
            <a:chExt cx="780288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02880" cy="812800"/>
            </a:xfrm>
            <a:custGeom>
              <a:avLst/>
              <a:gdLst/>
              <a:ahLst/>
              <a:cxnLst/>
              <a:rect r="r" b="b" t="t" l="l"/>
              <a:pathLst>
                <a:path h="81280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6343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80288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4964623" y="8877289"/>
            <a:ext cx="3078955" cy="1119620"/>
          </a:xfrm>
          <a:custGeom>
            <a:avLst/>
            <a:gdLst/>
            <a:ahLst/>
            <a:cxnLst/>
            <a:rect r="r" b="b" t="t" l="l"/>
            <a:pathLst>
              <a:path h="1119620" w="3078955">
                <a:moveTo>
                  <a:pt x="0" y="0"/>
                </a:moveTo>
                <a:lnTo>
                  <a:pt x="3078955" y="0"/>
                </a:lnTo>
                <a:lnTo>
                  <a:pt x="3078955" y="1119620"/>
                </a:lnTo>
                <a:lnTo>
                  <a:pt x="0" y="1119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8829664"/>
            <a:ext cx="6847006" cy="809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José Becerra</a:t>
            </a:r>
          </a:p>
          <a:p>
            <a:pPr algn="l">
              <a:lnSpc>
                <a:spcPts val="3274"/>
              </a:lnSpc>
            </a:pPr>
            <a:r>
              <a:rPr lang="en-US" sz="2338">
                <a:solidFill>
                  <a:srgbClr val="36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Javiera Gómez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DAG40m8nNoA</dc:identifier>
  <dcterms:modified xsi:type="dcterms:W3CDTF">2011-08-01T06:04:30Z</dcterms:modified>
  <cp:revision>1</cp:revision>
  <dc:title>Presentación final</dc:title>
</cp:coreProperties>
</file>